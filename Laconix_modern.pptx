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laconix.ne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01 —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960120"/>
            <a:ext cx="4983480" cy="516636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0160"/>
            <a:ext cx="3063240" cy="384048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8313C"/>
                </a:solidFill>
                <a:latin typeface="DejaVu Sans"/>
              </a:defRPr>
            </a:pPr>
            <a:r>
              <a:t>ТВОЙ СЛЕДУЮЩИЙ ШАГ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649224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5800" b="1">
                <a:solidFill>
                  <a:srgbClr val="18313C"/>
                </a:solidFill>
                <a:latin typeface="DejaVu Sans"/>
              </a:defRPr>
            </a:pPr>
            <a:r>
              <a:t>Карьера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5800" b="1">
                <a:solidFill>
                  <a:srgbClr val="18313C"/>
                </a:solidFill>
                <a:latin typeface="DejaVu Sans"/>
              </a:defRPr>
            </a:pPr>
            <a:r>
              <a:t>в Laconix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43484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6C6C82"/>
                </a:solidFill>
                <a:latin typeface="DejaVu Sans"/>
              </a:defRPr>
            </a:pPr>
            <a:r>
              <a:t>Веб-разработка. Цифровые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6C6C82"/>
                </a:solidFill>
                <a:latin typeface="DejaVu Sans"/>
              </a:defRPr>
            </a:pPr>
            <a:r>
              <a:t>продукты. Команда.</a:t>
            </a:r>
          </a:p>
        </p:txBody>
      </p:sp>
      <p:pic>
        <p:nvPicPr>
          <p:cNvPr id="14" name="Picture 13" descr="pan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600200"/>
            <a:ext cx="4343400" cy="434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5897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ПРЕЗЕНТАЦИЯ КОМПАНИИ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01 / ЗНАКОМСТВО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Кто такие Laconix?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02 —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4709160" cy="333756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72384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4400" b="1">
                <a:solidFill>
                  <a:srgbClr val="6552E8"/>
                </a:solidFill>
                <a:latin typeface="DejaVu Sans"/>
              </a:defRPr>
            </a:pPr>
            <a:r>
              <a:t>Казань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500" b="1">
                <a:solidFill>
                  <a:srgbClr val="18313C"/>
                </a:solidFill>
                <a:latin typeface="DejaVu Sans"/>
              </a:defRPr>
            </a:pPr>
            <a:r>
              <a:t>Веб-студия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29200"/>
            <a:ext cx="100584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206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8313C"/>
                </a:solidFill>
                <a:latin typeface="DejaVu Sans"/>
              </a:defRPr>
            </a:pPr>
            <a:r>
              <a:t>WEB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5029200"/>
            <a:ext cx="173736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5120640"/>
            <a:ext cx="146303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8313C"/>
                </a:solidFill>
                <a:latin typeface="DejaVu Sans"/>
              </a:defRPr>
            </a:pPr>
            <a:r>
              <a:t>SOFTWARE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834640"/>
            <a:ext cx="57607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100" b="1">
                <a:solidFill>
                  <a:srgbClr val="18313C"/>
                </a:solidFill>
                <a:latin typeface="DejaVu Sans"/>
              </a:defRPr>
            </a:pPr>
            <a:r>
              <a:t>Создаём цифровые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3100" b="1">
                <a:solidFill>
                  <a:srgbClr val="18313C"/>
                </a:solidFill>
                <a:latin typeface="DejaVu Sans"/>
              </a:defRPr>
            </a:pPr>
            <a:r>
              <a:t>решения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343400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C6C82"/>
                </a:solidFill>
                <a:latin typeface="DejaVu Sans"/>
              </a:defRPr>
            </a:pPr>
            <a:r>
              <a:t>Разработка сайтов и программного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C6C82"/>
                </a:solidFill>
                <a:latin typeface="DejaVu Sans"/>
              </a:defRPr>
            </a:pPr>
            <a:r>
              <a:t>обеспечения, SEO-продвижение,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C6C82"/>
                </a:solidFill>
                <a:latin typeface="DejaVu Sans"/>
              </a:defRPr>
            </a:pPr>
            <a:r>
              <a:t>мобильные приложения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C6C82"/>
                </a:solidFill>
                <a:latin typeface="DejaVu Sans"/>
              </a:defRPr>
            </a:pPr>
            <a:r>
              <a:t>веб-аналитика.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02 / ЭКСПЕРТИЗА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Основные направления работы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03 —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3547872" cy="320040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0906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4300" b="1">
                <a:solidFill>
                  <a:srgbClr val="6552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160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Разработка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93776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6C6C82"/>
                </a:solidFill>
                <a:latin typeface="DejaVu Sans"/>
              </a:defRPr>
            </a:pPr>
            <a:r>
              <a:t>Сайты, веб-сервисы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6C6C82"/>
                </a:solidFill>
                <a:latin typeface="DejaVu Sans"/>
              </a:defRPr>
            </a:pPr>
            <a:r>
              <a:t>программное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6C6C82"/>
                </a:solidFill>
                <a:latin typeface="DejaVu Sans"/>
              </a:defRPr>
            </a:pPr>
            <a:r>
              <a:t>обеспечение.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2834640"/>
            <a:ext cx="3547872" cy="320040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0906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4300" b="1">
                <a:solidFill>
                  <a:srgbClr val="6552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Продвижение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3776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6C6C82"/>
                </a:solidFill>
                <a:latin typeface="DejaVu Sans"/>
              </a:defRPr>
            </a:pPr>
            <a:r>
              <a:t>SEO, маркетинг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6C6C82"/>
                </a:solidFill>
                <a:latin typeface="DejaVu Sans"/>
              </a:defRPr>
            </a:pPr>
            <a:r>
              <a:t>цифровая аналитика.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2834640"/>
            <a:ext cx="3547872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30906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4300" b="1">
                <a:solidFill>
                  <a:srgbClr val="6552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4160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8313C"/>
                </a:solidFill>
                <a:latin typeface="DejaVu Sans"/>
              </a:defRPr>
            </a:pPr>
            <a:r>
              <a:t>Поддержка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4937760"/>
            <a:ext cx="30540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6C6C82"/>
                </a:solidFill>
                <a:latin typeface="DejaVu Sans"/>
              </a:defRPr>
            </a:pPr>
            <a:r>
              <a:t>Сопровождение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6C6C82"/>
                </a:solidFill>
                <a:latin typeface="DejaVu Sans"/>
              </a:defRPr>
            </a:pPr>
            <a:r>
              <a:t>развитие проектов.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03 / ЗНАКОМСТВО С КОМАНДОЙ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Путь кандидата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в команду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04 —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2633472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40156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6552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087368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8313C"/>
                </a:solidFill>
                <a:latin typeface="DejaVu Sans"/>
              </a:defRPr>
            </a:pPr>
            <a:r>
              <a:t>Отклик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8313C"/>
                </a:solidFill>
                <a:latin typeface="DejaVu Sans"/>
              </a:defRPr>
            </a:pPr>
            <a:r>
              <a:t>и резюме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374136"/>
            <a:ext cx="2633472" cy="201168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3575304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6552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261104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8313C"/>
                </a:solidFill>
                <a:latin typeface="DejaVu Sans"/>
              </a:defRPr>
            </a:pPr>
            <a:r>
              <a:t>Первое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8313C"/>
                </a:solidFill>
                <a:latin typeface="DejaVu Sans"/>
              </a:defRPr>
            </a:pPr>
            <a:r>
              <a:t>знакомство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47872"/>
            <a:ext cx="2633472" cy="20116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74903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6552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434840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8313C"/>
                </a:solidFill>
                <a:latin typeface="DejaVu Sans"/>
              </a:defRPr>
            </a:pPr>
            <a:r>
              <a:t>Профильное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8313C"/>
                </a:solidFill>
                <a:latin typeface="DejaVu Sans"/>
              </a:defRPr>
            </a:pPr>
            <a:r>
              <a:t>интервью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3721608"/>
            <a:ext cx="2633472" cy="201168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392277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6552E8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4608576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8313C"/>
                </a:solidFill>
                <a:latin typeface="DejaVu Sans"/>
              </a:defRPr>
            </a:pPr>
            <a:r>
              <a:t>Обсуждение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8313C"/>
                </a:solidFill>
                <a:latin typeface="DejaVu Sans"/>
              </a:defRPr>
            </a:pPr>
            <a:r>
              <a:t>условий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52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6C6C82"/>
                </a:solidFill>
                <a:latin typeface="DejaVu Sans"/>
              </a:defRPr>
            </a:pPr>
            <a:r>
              <a:t>Иллюстративный процесс — не официальный регламент компании.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04 / ПЕРВОЕ ВПЕЧАТЛЕНИЕ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Резюме, которое заметят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05 —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5422392" cy="333756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06324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18313C"/>
                </a:solidFill>
                <a:latin typeface="DejaVu Sans"/>
              </a:defRPr>
            </a:pPr>
            <a:r>
              <a:t>+ СТОИТ ПОКАЗАТЬ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7" y="3730752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7" y="38404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8313C"/>
                </a:solidFill>
                <a:latin typeface="DejaVu Sans"/>
              </a:defRPr>
            </a:pPr>
            <a:r>
              <a:t>Реальные проекты и ссылки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7" y="4261104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7" y="437083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8313C"/>
                </a:solidFill>
                <a:latin typeface="DejaVu Sans"/>
              </a:defRPr>
            </a:pPr>
            <a:r>
              <a:t>Конкретные результаты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7" y="4791456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7" y="490118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8313C"/>
                </a:solidFill>
                <a:latin typeface="DejaVu Sans"/>
              </a:defRPr>
            </a:pPr>
            <a:r>
              <a:t>Технологии и инструменты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7" y="5321808"/>
            <a:ext cx="4809745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7" y="543153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8313C"/>
                </a:solidFill>
                <a:latin typeface="DejaVu Sans"/>
              </a:defRPr>
            </a:pPr>
            <a:r>
              <a:t>Чёткую структуру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43200"/>
            <a:ext cx="5422392" cy="333756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06324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1">
                <a:solidFill>
                  <a:srgbClr val="18313C"/>
                </a:solidFill>
                <a:latin typeface="DejaVu Sans"/>
              </a:defRPr>
            </a:pPr>
            <a:r>
              <a:t>− ЛУЧШЕ ИЗБЕГАТЬ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10528" y="3730752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10528" y="38404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8313C"/>
                </a:solidFill>
                <a:latin typeface="DejaVu Sans"/>
              </a:defRPr>
            </a:pPr>
            <a:r>
              <a:t>Общих фраз без примеров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0528" y="4261104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0528" y="4370832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8313C"/>
                </a:solidFill>
                <a:latin typeface="DejaVu Sans"/>
              </a:defRPr>
            </a:pPr>
            <a:r>
              <a:t>Перечня навыков без опыта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10528" y="4791456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10528" y="490118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8313C"/>
                </a:solidFill>
                <a:latin typeface="DejaVu Sans"/>
              </a:defRPr>
            </a:pPr>
            <a:r>
              <a:t>Ошибок в оформлении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10528" y="5321808"/>
            <a:ext cx="4809744" cy="0"/>
          </a:xfrm>
          <a:prstGeom prst="line">
            <a:avLst/>
          </a:prstGeom>
          <a:ln w="7620">
            <a:solidFill>
              <a:srgbClr val="C8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10528" y="543153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8313C"/>
                </a:solidFill>
                <a:latin typeface="DejaVu Sans"/>
              </a:defRPr>
            </a:pPr>
            <a:r>
              <a:t>Неактуальных контактов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05 / ПОКАЖИТЕ ХОД МЫСЛИ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Подготовка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к собеседованию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06 — 12</a:t>
            </a:r>
          </a:p>
        </p:txBody>
      </p:sp>
      <p:pic>
        <p:nvPicPr>
          <p:cNvPr id="11" name="Picture 10" descr="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331720"/>
            <a:ext cx="41148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971800"/>
            <a:ext cx="6492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6552E8"/>
                </a:solidFill>
                <a:latin typeface="DejaVu Sans"/>
              </a:defRPr>
            </a:pPr>
            <a:r>
              <a:t>Покажите, как вы мыслите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6552E8"/>
                </a:solidFill>
                <a:latin typeface="DejaVu Sans"/>
              </a:defRPr>
            </a:pPr>
            <a:r>
              <a:t>и решаете задачи.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416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6552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04164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8313C"/>
                </a:solidFill>
                <a:latin typeface="DejaVu Sans"/>
              </a:defRPr>
            </a:pPr>
            <a:r>
              <a:t>Проекты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C6C82"/>
                </a:solidFill>
                <a:latin typeface="DejaVu Sans"/>
              </a:defRPr>
            </a:pPr>
            <a:r>
              <a:t>Расскажите о сложной задаче и своём решении.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5294376"/>
            <a:ext cx="6309360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486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6552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864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8313C"/>
                </a:solidFill>
                <a:latin typeface="DejaVu Sans"/>
              </a:defRPr>
            </a:pPr>
            <a:r>
              <a:t>Командная работа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92531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C6C82"/>
                </a:solidFill>
                <a:latin typeface="DejaVu Sans"/>
              </a:defRPr>
            </a:pPr>
            <a:r>
              <a:t>Как вы обсуждаете правки, сроки и обратную связь?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06 / ПРОФЕССИОНАЛЬНАЯ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Навыки программиста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07 —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6552E8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8716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8313C"/>
                </a:solidFill>
                <a:latin typeface="DejaVu Sans"/>
              </a:defRPr>
            </a:pPr>
            <a:r>
              <a:t>Код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08376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C6C82"/>
                </a:solidFill>
                <a:latin typeface="DejaVu Sans"/>
              </a:defRPr>
            </a:pPr>
            <a:r>
              <a:t>Основы языка, читаемость и тестирование.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3739896"/>
            <a:ext cx="6492240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72160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6552E8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2160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8313C"/>
                </a:solidFill>
                <a:latin typeface="DejaVu Sans"/>
              </a:defRPr>
            </a:pPr>
            <a:r>
              <a:t>Архитектура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42816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C6C82"/>
                </a:solidFill>
                <a:latin typeface="DejaVu Sans"/>
              </a:defRPr>
            </a:pPr>
            <a:r>
              <a:t>API, проектирование и интеграции.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974336"/>
            <a:ext cx="6492240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495604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6552E8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5604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8313C"/>
                </a:solidFill>
                <a:latin typeface="DejaVu Sans"/>
              </a:defRPr>
            </a:pPr>
            <a:r>
              <a:t>Данные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477256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6C6C82"/>
                </a:solidFill>
                <a:latin typeface="DejaVu Sans"/>
              </a:defRPr>
            </a:pPr>
            <a:r>
              <a:t>SQL, безопасность и оптимизация.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208776"/>
            <a:ext cx="6492240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89520" y="2560320"/>
            <a:ext cx="4069080" cy="361188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06040"/>
            <a:ext cx="370332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07 / ДВЕ СТОРОНЫ ПРОДУКТА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Frontend и Backend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08 —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5422392" cy="306324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944368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50791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HTML / CSS / 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8970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Адаптивная вёрстка и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2861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React / Vue — примеры технологий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97480"/>
            <a:ext cx="5422392" cy="306324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944368"/>
            <a:ext cx="4800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050791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Серверная логика и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489704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Базы данных и интеграции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928616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PHP / Python — примеры технологий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6C6C82"/>
                </a:solidFill>
                <a:latin typeface="DejaVu Sans"/>
              </a:defRPr>
            </a:pPr>
            <a:r>
              <a:t>Ориентиры для подготовки, не требования конкретной вакансии.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08 / ВОЗМОЖНОСТИ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Почему интересна работа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в веб-студии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09 — 12</a:t>
            </a:r>
          </a:p>
        </p:txBody>
      </p:sp>
      <p:pic>
        <p:nvPicPr>
          <p:cNvPr id="11" name="Picture 10" descr="panel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816352"/>
            <a:ext cx="2423160" cy="2423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2395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8313C"/>
                </a:solidFill>
                <a:latin typeface="DejaVu Sans"/>
              </a:defRPr>
            </a:pPr>
            <a:r>
              <a:t>Разные проекты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15000"/>
            <a:ext cx="35204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C6C82"/>
                </a:solidFill>
                <a:latin typeface="DejaVu Sans"/>
              </a:defRPr>
            </a:pPr>
            <a:r>
              <a:t>Задачи для компаний из разных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C6C82"/>
                </a:solidFill>
                <a:latin typeface="DejaVu Sans"/>
              </a:defRPr>
            </a:pPr>
            <a:r>
              <a:t>отраслей.</a:t>
            </a:r>
          </a:p>
        </p:txBody>
      </p:sp>
      <p:pic>
        <p:nvPicPr>
          <p:cNvPr id="14" name="Picture 13" descr="pan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816352"/>
            <a:ext cx="2423160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25112" y="52395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8313C"/>
                </a:solidFill>
                <a:latin typeface="DejaVu Sans"/>
              </a:defRPr>
            </a:pPr>
            <a:r>
              <a:t>Команда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5715000"/>
            <a:ext cx="35204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C6C82"/>
                </a:solidFill>
                <a:latin typeface="DejaVu Sans"/>
              </a:defRPr>
            </a:pPr>
            <a:r>
              <a:t>Сотрудничество разработки,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C6C82"/>
                </a:solidFill>
                <a:latin typeface="DejaVu Sans"/>
              </a:defRPr>
            </a:pPr>
            <a:r>
              <a:t>дизайна и маркетинга.</a:t>
            </a:r>
          </a:p>
        </p:txBody>
      </p:sp>
      <p:pic>
        <p:nvPicPr>
          <p:cNvPr id="17" name="Picture 16" descr="panel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944" y="2816352"/>
            <a:ext cx="2423160" cy="2423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01583" y="523951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8313C"/>
                </a:solidFill>
                <a:latin typeface="DejaVu Sans"/>
              </a:defRPr>
            </a:pPr>
            <a:r>
              <a:t>Развитие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5715000"/>
            <a:ext cx="35204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C6C82"/>
                </a:solidFill>
                <a:latin typeface="DejaVu Sans"/>
              </a:defRPr>
            </a:pPr>
            <a:r>
              <a:t>Опыт полного цикла создания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6C6C82"/>
                </a:solidFill>
                <a:latin typeface="DejaVu Sans"/>
              </a:defRPr>
            </a:pPr>
            <a:r>
              <a:t>цифрового продукта.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09 / ПРОЕКТНЫЕ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Организационная структура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10 —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6C6C82"/>
                </a:solidFill>
                <a:latin typeface="DejaVu Sans"/>
              </a:defRPr>
            </a:pPr>
            <a:r>
              <a:t>Пример проектных ролей, не подтверждённая оргсхема Laconix.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9663" y="2971800"/>
            <a:ext cx="3840480" cy="658368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17296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8313C"/>
                </a:solidFill>
                <a:latin typeface="DejaVu Sans"/>
              </a:defRPr>
            </a:pPr>
            <a:r>
              <a:t>РУКОВОДСТВО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3630168"/>
            <a:ext cx="0" cy="438912"/>
          </a:xfrm>
          <a:prstGeom prst="line">
            <a:avLst/>
          </a:prstGeom>
          <a:ln w="19050">
            <a:solidFill>
              <a:srgbClr val="655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4069080"/>
            <a:ext cx="7543800" cy="0"/>
          </a:xfrm>
          <a:prstGeom prst="line">
            <a:avLst/>
          </a:prstGeom>
          <a:ln w="19050">
            <a:solidFill>
              <a:srgbClr val="655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22576" y="4069080"/>
            <a:ext cx="0" cy="411480"/>
          </a:xfrm>
          <a:prstGeom prst="line">
            <a:avLst/>
          </a:prstGeom>
          <a:ln w="19050">
            <a:solidFill>
              <a:srgbClr val="655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4480560"/>
            <a:ext cx="3547872" cy="150876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7365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8313C"/>
                </a:solidFill>
                <a:latin typeface="DejaVu Sans"/>
              </a:defRPr>
            </a:pPr>
            <a:r>
              <a:t>Разработка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53766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6C6C82"/>
                </a:solidFill>
                <a:latin typeface="DejaVu Sans"/>
              </a:defRPr>
            </a:pPr>
            <a:r>
              <a:t>Frontend / Backend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4069080"/>
            <a:ext cx="0" cy="411480"/>
          </a:xfrm>
          <a:prstGeom prst="line">
            <a:avLst/>
          </a:prstGeom>
          <a:ln w="19050">
            <a:solidFill>
              <a:srgbClr val="655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25112" y="4480560"/>
            <a:ext cx="3547872" cy="150876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365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8313C"/>
                </a:solidFill>
                <a:latin typeface="DejaVu Sans"/>
              </a:defRPr>
            </a:pPr>
            <a:r>
              <a:t>Дизайн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766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6C6C82"/>
                </a:solidFill>
                <a:latin typeface="DejaVu Sans"/>
              </a:defRPr>
            </a:pPr>
            <a:r>
              <a:t>UI / UX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75519" y="4069080"/>
            <a:ext cx="0" cy="411480"/>
          </a:xfrm>
          <a:prstGeom prst="line">
            <a:avLst/>
          </a:prstGeom>
          <a:ln w="19050">
            <a:solidFill>
              <a:srgbClr val="655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01583" y="4480560"/>
            <a:ext cx="3547872" cy="150876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1" y="473659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8313C"/>
                </a:solidFill>
                <a:latin typeface="DejaVu Sans"/>
              </a:defRPr>
            </a:pPr>
            <a:r>
              <a:t>Маркетинг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53766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6C6C82"/>
                </a:solidFill>
                <a:latin typeface="DejaVu Sans"/>
              </a:defRPr>
            </a:pPr>
            <a:r>
              <a:t>SEO / SMM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6552E8"/>
                </a:solidFill>
                <a:latin typeface="DejaVu Sans"/>
              </a:defRPr>
            </a:pPr>
            <a:r>
              <a:t>10 / РАЗВИТИЕ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0876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600" b="1">
                <a:solidFill>
                  <a:srgbClr val="18313C"/>
                </a:solidFill>
                <a:latin typeface="DejaVu Sans"/>
              </a:defRPr>
            </a:pPr>
            <a:r>
              <a:t>Карьера и условия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11 —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7315200" cy="342900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200" b="1">
                <a:solidFill>
                  <a:srgbClr val="6552E8"/>
                </a:solidFill>
                <a:latin typeface="DejaVu Sans"/>
              </a:defRPr>
            </a:pPr>
            <a:r>
              <a:t>ПРОФЕССИОНАЛЬНЫЙ ПУТЬ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7647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900" b="1">
                <a:solidFill>
                  <a:srgbClr val="18313C"/>
                </a:solidFill>
                <a:latin typeface="DejaVu Sans"/>
              </a:defRPr>
            </a:pPr>
            <a:r>
              <a:t>Junior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8039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6552E8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77647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900" b="1">
                <a:solidFill>
                  <a:srgbClr val="18313C"/>
                </a:solidFill>
                <a:latin typeface="DejaVu Sans"/>
              </a:defRPr>
            </a:pPr>
            <a:r>
              <a:t>Middle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8039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6552E8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7647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900" b="1">
                <a:solidFill>
                  <a:srgbClr val="18313C"/>
                </a:solidFill>
                <a:latin typeface="DejaVu Sans"/>
              </a:defRPr>
            </a:pPr>
            <a:r>
              <a:t>Senior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19472"/>
            <a:ext cx="6537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C6C82"/>
                </a:solidFill>
                <a:latin typeface="DejaVu Sans"/>
              </a:defRPr>
            </a:pPr>
            <a:r>
              <a:t>Рост через реальные задачи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6C6C82"/>
                </a:solidFill>
                <a:latin typeface="DejaVu Sans"/>
              </a:defRPr>
            </a:pPr>
            <a:r>
              <a:t>Специализация или управление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697480"/>
            <a:ext cx="3502152" cy="342900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3035808"/>
            <a:ext cx="288950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8313C"/>
                </a:solidFill>
                <a:latin typeface="DejaVu Sans"/>
              </a:defRPr>
            </a:pPr>
            <a:r>
              <a:t>УСЛОВИЯ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8313C"/>
                </a:solidFill>
                <a:latin typeface="DejaVu Sans"/>
              </a:defRPr>
            </a:pPr>
            <a:r>
              <a:t>РАБОТЫ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4251960"/>
            <a:ext cx="2852928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Зарплату, график 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формат работы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необходимо уточнять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по конкретной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8313C"/>
                </a:solidFill>
                <a:latin typeface="DejaVu Sans"/>
              </a:defRPr>
            </a:pPr>
            <a:r>
              <a:t>вакансии.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212343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09560" y="3474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C6C82"/>
                </a:solidFill>
                <a:latin typeface="DejaVu Sans"/>
              </a:defRPr>
            </a:pPr>
            <a:r>
              <a:t>CAREER / DIGITAL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19456"/>
            <a:ext cx="731520" cy="411480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1">
                <a:solidFill>
                  <a:srgbClr val="18313C"/>
                </a:solidFill>
                <a:latin typeface="DejaVu Sans"/>
              </a:defRPr>
            </a:pPr>
            <a: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10160">
            <a:solidFill>
              <a:srgbClr val="DAD9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LACONIX / КАРЬЕРА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6C6C82"/>
                </a:solidFill>
                <a:latin typeface="DejaVu Sans"/>
              </a:defRPr>
            </a:pPr>
            <a:r>
              <a:t>12 —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51560"/>
            <a:ext cx="4160520" cy="5074920"/>
          </a:xfrm>
          <a:prstGeom prst="roundRect">
            <a:avLst>
              <a:gd name="adj" fmla="val 12000"/>
            </a:avLst>
          </a:prstGeom>
          <a:solidFill>
            <a:srgbClr val="EA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1828800"/>
            <a:ext cx="3749039" cy="3749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" y="1371600"/>
            <a:ext cx="3474720" cy="384048"/>
          </a:xfrm>
          <a:prstGeom prst="roundRect">
            <a:avLst>
              <a:gd name="adj" fmla="val 12000"/>
            </a:avLst>
          </a:prstGeom>
          <a:solidFill>
            <a:srgbClr val="DBF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8313C"/>
                </a:solidFill>
                <a:latin typeface="DejaVu Sans"/>
              </a:defRPr>
            </a:pPr>
            <a:r>
              <a:t>LET’S BUILD SOMETHING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5200" b="1">
                <a:solidFill>
                  <a:srgbClr val="18313C"/>
                </a:solidFill>
                <a:latin typeface="DejaVu Sans"/>
              </a:defRPr>
            </a:pPr>
            <a:r>
              <a:t>Спасибо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5200" b="1">
                <a:solidFill>
                  <a:srgbClr val="18313C"/>
                </a:solidFill>
                <a:latin typeface="DejaVu Sans"/>
              </a:defRPr>
            </a:pPr>
            <a:r>
              <a:t>за внимание!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600" b="1">
                <a:solidFill>
                  <a:srgbClr val="6552E8"/>
                </a:solidFill>
                <a:latin typeface="DejaVu Sans"/>
              </a:defRPr>
            </a:pPr>
            <a:r>
              <a:t>LACONIX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8464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C6C82"/>
                </a:solidFill>
                <a:latin typeface="DejaVu Sans"/>
              </a:defRPr>
            </a:pPr>
            <a:r>
              <a:t>Разработка цифровых решений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064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8313C"/>
                </a:solidFill>
                <a:latin typeface="DejaVu Sans"/>
              </a:defRPr>
            </a:pPr>
            <a:r>
              <a:rPr>
                <a:hlinkClick r:id="rId3"/>
              </a:rPr>
              <a:t>laconix.net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