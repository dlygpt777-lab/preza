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aconix.net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01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737360" cy="36576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1">
                <a:solidFill>
                  <a:srgbClr val="008F87"/>
                </a:solidFill>
                <a:latin typeface="DejaVu Sans"/>
              </a:defRPr>
            </a:pPr>
            <a:r>
              <a:t>РАБОТА В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577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4800" b="1">
                <a:solidFill>
                  <a:srgbClr val="18313C"/>
                </a:solidFill>
                <a:latin typeface="DejaVu Sans"/>
              </a:defRPr>
            </a:pPr>
            <a:r>
              <a:t>Карьера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4800" b="1">
                <a:solidFill>
                  <a:srgbClr val="18313C"/>
                </a:solidFill>
                <a:latin typeface="DejaVu Sans"/>
              </a:defRPr>
            </a:pPr>
            <a:r>
              <a:t>в Laconix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77639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0737B"/>
                </a:solidFill>
                <a:latin typeface="DejaVu Sans"/>
              </a:defRPr>
            </a:pPr>
            <a:r>
              <a:t>Веб-разработка · цифровые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0737B"/>
                </a:solidFill>
                <a:latin typeface="DejaVu Sans"/>
              </a:defRPr>
            </a:pPr>
            <a:r>
              <a:t>продукты · команда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15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ПРЕЗЕНТАЦИЯ КОМПАНИИ</a:t>
            </a:r>
          </a:p>
        </p:txBody>
      </p:sp>
      <p:pic>
        <p:nvPicPr>
          <p:cNvPr id="12" name="Picture 11" descr="pan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120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02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ЗНАКОМСТВО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Кто такие Laconix?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pic>
        <p:nvPicPr>
          <p:cNvPr id="9" name="Picture 8" descr="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4937760" cy="3291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0" y="2606040"/>
            <a:ext cx="57150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907792"/>
            <a:ext cx="4983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Веб-студия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из Казани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251960"/>
            <a:ext cx="4800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37B"/>
                </a:solidFill>
                <a:latin typeface="DejaVu Sans"/>
              </a:defRPr>
            </a:pPr>
            <a:r>
              <a:t>Разработка сайтов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37B"/>
                </a:solidFill>
                <a:latin typeface="DejaVu Sans"/>
              </a:defRPr>
            </a:pPr>
            <a:r>
              <a:t>программного обеспечения,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37B"/>
                </a:solidFill>
                <a:latin typeface="DejaVu Sans"/>
              </a:defRPr>
            </a:pPr>
            <a:r>
              <a:t>SEO-продвижение, мобильные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37B"/>
                </a:solidFill>
                <a:latin typeface="DejaVu Sans"/>
              </a:defRPr>
            </a:pPr>
            <a:r>
              <a:t>приложения и веб-аналитика.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03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ЧЕМ МЫ ЗАНИМАЕМСЯ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Основные направления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97480"/>
            <a:ext cx="2606040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8F8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8313C"/>
                </a:solidFill>
                <a:latin typeface="DejaVu Sans"/>
              </a:defRPr>
            </a:pPr>
            <a:r>
              <a:t>Разработка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4068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Сайты, веб-сервисы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программное обеспечение.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60604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ne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697480"/>
            <a:ext cx="2606040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8F8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937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8313C"/>
                </a:solidFill>
                <a:latin typeface="DejaVu Sans"/>
              </a:defRPr>
            </a:pPr>
            <a:r>
              <a:t>Продвижение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44068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SEO, маркетинг и цифровая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аналитика.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60604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ane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697480"/>
            <a:ext cx="2606040" cy="1737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6676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8F8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937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8313C"/>
                </a:solidFill>
                <a:latin typeface="DejaVu Sans"/>
              </a:defRPr>
            </a:pPr>
            <a:r>
              <a:t>Поддержка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544068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Сопровождение и развитие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проектов.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04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ОТ ОТКЛИКА ДО ОФФЕРА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Путь кандидата в команду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017520"/>
            <a:ext cx="9418320" cy="0"/>
          </a:xfrm>
          <a:prstGeom prst="line">
            <a:avLst/>
          </a:prstGeom>
          <a:ln w="38100">
            <a:solidFill>
              <a:srgbClr val="008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697480"/>
            <a:ext cx="777240" cy="64008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8254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008F8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Отклик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и резюме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697480"/>
            <a:ext cx="777240" cy="64008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28254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008F8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37033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Первое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знакомство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697480"/>
            <a:ext cx="777240" cy="64008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8254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008F8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37033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Профильное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интервью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2697480"/>
            <a:ext cx="777240" cy="64008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82549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008F8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37033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Обсуждение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условий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E9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51383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0737B"/>
                </a:solidFill>
                <a:latin typeface="DejaVu Sans"/>
              </a:defRPr>
            </a:pPr>
            <a:r>
              <a:t>Иллюстративный процесс — не официальный регламент компании.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05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ПЕРВОЕ ВПЕЧАТЛЕНИЕ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Резюме, которое заметят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3840480" cy="342900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95351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008F87"/>
                </a:solidFill>
                <a:latin typeface="DejaVu Sans"/>
              </a:defRPr>
            </a:pPr>
            <a:r>
              <a:t>СТОИТ ПОКАЗАТЬ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30168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8313C"/>
                </a:solidFill>
                <a:latin typeface="DejaVu Sans"/>
              </a:defRPr>
            </a:pPr>
            <a:r>
              <a:t>+ Реальные проекты и ссылки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142232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8313C"/>
                </a:solidFill>
                <a:latin typeface="DejaVu Sans"/>
              </a:defRPr>
            </a:pPr>
            <a:r>
              <a:t>+ Конкретные результаты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654296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8313C"/>
                </a:solidFill>
                <a:latin typeface="DejaVu Sans"/>
              </a:defRPr>
            </a:pPr>
            <a:r>
              <a:t>+ Технологии и инструменты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6636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8313C"/>
                </a:solidFill>
                <a:latin typeface="DejaVu Sans"/>
              </a:defRPr>
            </a:pPr>
            <a:r>
              <a:t>+ Чёткую структуру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51760"/>
            <a:ext cx="384048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2" y="295351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008F87"/>
                </a:solidFill>
                <a:latin typeface="DejaVu Sans"/>
              </a:defRPr>
            </a:pPr>
            <a:r>
              <a:t>ЛУЧШЕ ИЗБЕГАТЬ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630168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8313C"/>
                </a:solidFill>
                <a:latin typeface="DejaVu Sans"/>
              </a:defRPr>
            </a:pPr>
            <a:r>
              <a:t>– Общих фраз без примеров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4142232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8313C"/>
                </a:solidFill>
                <a:latin typeface="DejaVu Sans"/>
              </a:defRPr>
            </a:pPr>
            <a:r>
              <a:t>– Перечня навыков без опыта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4654296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8313C"/>
                </a:solidFill>
                <a:latin typeface="DejaVu Sans"/>
              </a:defRPr>
            </a:pPr>
            <a:r>
              <a:t>– Ошибок в оформлении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516636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18313C"/>
                </a:solidFill>
                <a:latin typeface="DejaVu Sans"/>
              </a:defRPr>
            </a:pPr>
            <a:r>
              <a:t>– Неактуальных контактов</a:t>
            </a:r>
          </a:p>
        </p:txBody>
      </p:sp>
      <p:pic>
        <p:nvPicPr>
          <p:cNvPr id="21" name="Picture 20" descr="pane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880360"/>
            <a:ext cx="29718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06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РАССКАЖИТЕ О СВОЁМ ОПЫТЕ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Подготовка к собеседованию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0737B"/>
                </a:solidFill>
                <a:latin typeface="DejaVu Sans"/>
              </a:defRPr>
            </a:pPr>
            <a:r>
              <a:t>Покажите, как вы мыслите и решаете задачи.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3337560" cy="260604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456432"/>
            <a:ext cx="284378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900" b="1">
                <a:solidFill>
                  <a:srgbClr val="18313C"/>
                </a:solidFill>
                <a:latin typeface="DejaVu Sans"/>
              </a:defRPr>
            </a:pPr>
            <a:r>
              <a:t>Проекты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160520"/>
            <a:ext cx="2843784" cy="1508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Расскажите о сложной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задаче и своём решении.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200400"/>
            <a:ext cx="333756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3456432"/>
            <a:ext cx="284378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900" b="1">
                <a:solidFill>
                  <a:srgbClr val="18313C"/>
                </a:solidFill>
                <a:latin typeface="DejaVu Sans"/>
              </a:defRPr>
            </a:pPr>
            <a:r>
              <a:t>Командная работа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4160520"/>
            <a:ext cx="2843784" cy="1508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Как вы обсуждаете правки,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сроки и обратную связь?</a:t>
            </a:r>
          </a:p>
        </p:txBody>
      </p:sp>
      <p:pic>
        <p:nvPicPr>
          <p:cNvPr id="16" name="Picture 15" descr="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3063240"/>
            <a:ext cx="393192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07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ПРОФЕССИОНАЛЬНАЯ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Навыки программиста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8F8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432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8313C"/>
                </a:solidFill>
                <a:latin typeface="DejaVu Sans"/>
              </a:defRPr>
            </a:pPr>
            <a:r>
              <a:t>Код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6382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0737B"/>
                </a:solidFill>
                <a:latin typeface="DejaVu Sans"/>
              </a:defRPr>
            </a:pPr>
            <a:r>
              <a:t>Основы языка, читаемость и тестирование.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2160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502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8F8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5876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8313C"/>
                </a:solidFill>
                <a:latin typeface="DejaVu Sans"/>
              </a:defRPr>
            </a:pPr>
            <a:r>
              <a:t>Архитектура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793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0737B"/>
                </a:solidFill>
                <a:latin typeface="DejaVu Sans"/>
              </a:defRPr>
            </a:pPr>
            <a:r>
              <a:t>API, проектирование и интеграции.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37176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8F8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7433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8313C"/>
                </a:solidFill>
                <a:latin typeface="DejaVu Sans"/>
              </a:defRPr>
            </a:pPr>
            <a:r>
              <a:t>Данные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3949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0737B"/>
                </a:solidFill>
                <a:latin typeface="DejaVu Sans"/>
              </a:defRPr>
            </a:pPr>
            <a:r>
              <a:t>SQL, безопасность и оптимизация.</a:t>
            </a:r>
          </a:p>
        </p:txBody>
      </p:sp>
      <p:pic>
        <p:nvPicPr>
          <p:cNvPr id="21" name="Picture 20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43200"/>
            <a:ext cx="50749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08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ДВЕ СТОРОНЫ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Frontend и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5349240" cy="288036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008F87"/>
                </a:solidFill>
                <a:latin typeface="DejaVu San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6732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8313C"/>
                </a:solidFill>
                <a:latin typeface="DejaVu Sans"/>
              </a:defRPr>
            </a:pPr>
            <a:r>
              <a:t>HTML / CSS / 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8313C"/>
                </a:solidFill>
                <a:latin typeface="DejaVu Sans"/>
              </a:defRPr>
            </a:pPr>
            <a:r>
              <a:t>Адаптивная вёрстка и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36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8313C"/>
                </a:solidFill>
                <a:latin typeface="DejaVu Sans"/>
              </a:defRPr>
            </a:pPr>
            <a:r>
              <a:t>React / Vue — примеры технологий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51760"/>
            <a:ext cx="5349240" cy="2880360"/>
          </a:xfrm>
          <a:prstGeom prst="roundRect">
            <a:avLst>
              <a:gd name="adj" fmla="val 12000"/>
            </a:avLst>
          </a:prstGeom>
          <a:solidFill>
            <a:srgbClr val="E9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9718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008F87"/>
                </a:solidFill>
                <a:latin typeface="DejaVu Sans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76732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8313C"/>
                </a:solidFill>
                <a:latin typeface="DejaVu Sans"/>
              </a:defRPr>
            </a:pPr>
            <a:r>
              <a:t>Серверная логика и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251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8313C"/>
                </a:solidFill>
                <a:latin typeface="DejaVu Sans"/>
              </a:defRPr>
            </a:pPr>
            <a:r>
              <a:t>Базы данных и интеграции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736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8313C"/>
                </a:solidFill>
                <a:latin typeface="DejaVu Sans"/>
              </a:defRPr>
            </a:pPr>
            <a:r>
              <a:t>PHP / Python — примеры технологий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760720"/>
            <a:ext cx="110642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7959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0737B"/>
                </a:solidFill>
                <a:latin typeface="DejaVu Sans"/>
              </a:defRPr>
            </a:pPr>
            <a:r>
              <a:t>Ориентиры для подготовки, не требования конкретной вакансии.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09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ВОЗМОЖНОСТИ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Почему интересна работа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в веб-студии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017520"/>
            <a:ext cx="2331720" cy="1554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731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8313C"/>
                </a:solidFill>
                <a:latin typeface="DejaVu Sans"/>
              </a:defRPr>
            </a:pPr>
            <a:r>
              <a:t>Разные проекты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Задачи для компаний из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разных отраслей.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88036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n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017520"/>
            <a:ext cx="233172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0" y="47731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8313C"/>
                </a:solidFill>
                <a:latin typeface="DejaVu Sans"/>
              </a:defRPr>
            </a:pPr>
            <a:r>
              <a:t>Команда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035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Сотрудничество разработки,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дизайна и маркетинга.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88036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anel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3017520"/>
            <a:ext cx="233172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47731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8313C"/>
                </a:solidFill>
                <a:latin typeface="DejaVu Sans"/>
              </a:defRPr>
            </a:pPr>
            <a:r>
              <a:t>Развитие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3035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Опыт полного цикла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создания цифрового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продукта.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10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КАК УСТРОЕНА ПРОЕКТНАЯ КОМАНДА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Организационная структура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0737B"/>
                </a:solidFill>
                <a:latin typeface="DejaVu Sans"/>
              </a:defRPr>
            </a:pPr>
            <a:r>
              <a:t>Пример проектных ролей, не подтверждённая оргсхема Laconix.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971800"/>
            <a:ext cx="3794760" cy="73152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1821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8F87"/>
                </a:solidFill>
                <a:latin typeface="DejaVu Sans"/>
              </a:defRPr>
            </a:pPr>
            <a:r>
              <a:t>РУКОВОДСТВО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3703320"/>
            <a:ext cx="0" cy="457200"/>
          </a:xfrm>
          <a:prstGeom prst="line">
            <a:avLst/>
          </a:prstGeom>
          <a:ln w="19050">
            <a:solidFill>
              <a:srgbClr val="008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4160520"/>
            <a:ext cx="7589520" cy="0"/>
          </a:xfrm>
          <a:prstGeom prst="line">
            <a:avLst/>
          </a:prstGeom>
          <a:ln w="19050">
            <a:solidFill>
              <a:srgbClr val="008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08860" y="4160520"/>
            <a:ext cx="0" cy="365760"/>
          </a:xfrm>
          <a:prstGeom prst="line">
            <a:avLst/>
          </a:prstGeom>
          <a:ln w="19050">
            <a:solidFill>
              <a:srgbClr val="008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452628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782312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900" b="1">
                <a:solidFill>
                  <a:srgbClr val="18313C"/>
                </a:solidFill>
                <a:latin typeface="DejaVu Sans"/>
              </a:defRPr>
            </a:pPr>
            <a:r>
              <a:t>Разработка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486400"/>
            <a:ext cx="3026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Frontend / Backend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03620" y="4160520"/>
            <a:ext cx="0" cy="365760"/>
          </a:xfrm>
          <a:prstGeom prst="line">
            <a:avLst/>
          </a:prstGeom>
          <a:ln w="19050">
            <a:solidFill>
              <a:srgbClr val="008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43400" y="452628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4782312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900" b="1">
                <a:solidFill>
                  <a:srgbClr val="18313C"/>
                </a:solidFill>
                <a:latin typeface="DejaVu Sans"/>
              </a:defRPr>
            </a:pPr>
            <a:r>
              <a:t>Дизайн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5486400"/>
            <a:ext cx="3026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UI / UX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98380" y="4160520"/>
            <a:ext cx="0" cy="365760"/>
          </a:xfrm>
          <a:prstGeom prst="line">
            <a:avLst/>
          </a:prstGeom>
          <a:ln w="19050">
            <a:solidFill>
              <a:srgbClr val="008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38160" y="452628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4782312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900" b="1">
                <a:solidFill>
                  <a:srgbClr val="18313C"/>
                </a:solidFill>
                <a:latin typeface="DejaVu Sans"/>
              </a:defRPr>
            </a:pPr>
            <a:r>
              <a:t>Маркетинг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5486400"/>
            <a:ext cx="3026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60737B"/>
                </a:solidFill>
                <a:latin typeface="DejaVu Sans"/>
              </a:defRPr>
            </a:pPr>
            <a:r>
              <a:t>SEO / SMM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11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8F87"/>
                </a:solidFill>
                <a:latin typeface="DejaVu Sans"/>
              </a:defRPr>
            </a:pPr>
            <a:r>
              <a:t>СЛЕДУЮЩИЙ ШАГ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8313C"/>
                </a:solidFill>
                <a:latin typeface="DejaVu Sans"/>
              </a:defRPr>
            </a:pPr>
            <a:r>
              <a:t>Карьера и условия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676656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5351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8F87"/>
                </a:solidFill>
                <a:latin typeface="DejaVu Sans"/>
              </a:defRPr>
            </a:pPr>
            <a:r>
              <a:t>ПРОФЕССИОНАЛЬНЫЙ ПУТЬ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500" b="1">
                <a:solidFill>
                  <a:srgbClr val="18313C"/>
                </a:solidFill>
                <a:latin typeface="DejaVu Sans"/>
              </a:defRPr>
            </a:pPr>
            <a:r>
              <a:t>Junior → Middle → Senior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900" b="0">
                <a:solidFill>
                  <a:srgbClr val="60737B"/>
                </a:solidFill>
                <a:latin typeface="DejaVu Sans"/>
              </a:defRPr>
            </a:pPr>
            <a:r>
              <a:t>Рост через реальные задачи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900" b="0">
                <a:solidFill>
                  <a:srgbClr val="60737B"/>
                </a:solidFill>
                <a:latin typeface="DejaVu Sans"/>
              </a:defRPr>
            </a:pPr>
            <a:r>
              <a:t>Специализация или управление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651760"/>
            <a:ext cx="4023360" cy="347472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ne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743200"/>
            <a:ext cx="2011680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9560" y="42519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8F87"/>
                </a:solidFill>
                <a:latin typeface="DejaVu Sans"/>
              </a:defRPr>
            </a:pPr>
            <a:r>
              <a:t>УСЛОВИЯ РАБОТЫ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70916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0737B"/>
                </a:solidFill>
                <a:latin typeface="DejaVu Sans"/>
              </a:defRPr>
            </a:pPr>
            <a:r>
              <a:t>Зарплату, график и формат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0737B"/>
                </a:solidFill>
                <a:latin typeface="DejaVu Sans"/>
              </a:defRPr>
            </a:pPr>
            <a:r>
              <a:t>работы необходимо уточнять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0737B"/>
                </a:solidFill>
                <a:latin typeface="DejaVu Sans"/>
              </a:defRPr>
            </a:pPr>
            <a:r>
              <a:t>по конкретной вакансии.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КАРЬЕРА / КОМАНДА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01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60737B"/>
                </a:solidFill>
                <a:latin typeface="DejaVu Sans"/>
              </a:defRPr>
            </a:pPr>
            <a:r>
              <a:t>12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58952"/>
            <a:ext cx="11183112" cy="0"/>
          </a:xfrm>
          <a:prstGeom prst="line">
            <a:avLst/>
          </a:prstGeom>
          <a:ln w="19050">
            <a:solidFill>
              <a:srgbClr val="DDE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37B"/>
                </a:solidFill>
                <a:latin typeface="DejaVu Sans"/>
              </a:defRPr>
            </a:pPr>
            <a:r>
              <a:t>Laconix · цифровые решения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4400" b="1">
                <a:solidFill>
                  <a:srgbClr val="18313C"/>
                </a:solidFill>
                <a:latin typeface="DejaVu Sans"/>
              </a:defRPr>
            </a:pPr>
            <a:r>
              <a:t>Спасибо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4400" b="1">
                <a:solidFill>
                  <a:srgbClr val="18313C"/>
                </a:solidFill>
                <a:latin typeface="DejaVu Sans"/>
              </a:defRPr>
            </a:pPr>
            <a:r>
              <a:t>за внимание!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008F87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5262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37B"/>
                </a:solidFill>
                <a:latin typeface="DejaVu Sans"/>
              </a:defRPr>
            </a:pPr>
            <a:r>
              <a:t>Разработка цифровых решений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394960"/>
            <a:ext cx="2971800" cy="594360"/>
          </a:xfrm>
          <a:prstGeom prst="roundRect">
            <a:avLst>
              <a:gd name="adj" fmla="val 12000"/>
            </a:avLst>
          </a:prstGeom>
          <a:solidFill>
            <a:srgbClr val="E0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54126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900" b="1">
                <a:solidFill>
                  <a:srgbClr val="008F87"/>
                </a:solidFill>
                <a:latin typeface="DejaVu Sans"/>
              </a:defRPr>
            </a:pPr>
            <a:r>
              <a:rPr>
                <a:hlinkClick r:id="rId2"/>
              </a:rPr>
              <a:t>laconix.net</a:t>
            </a:r>
          </a:p>
        </p:txBody>
      </p:sp>
      <p:pic>
        <p:nvPicPr>
          <p:cNvPr id="12" name="Picture 11" descr="pane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54480"/>
            <a:ext cx="4663440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